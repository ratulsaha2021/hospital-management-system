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1"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147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56954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36451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74578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2258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05054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90016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48245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82531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7487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509804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920636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58382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3404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3334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4298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1/12/2022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1198323"/>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oleObject" Target="../embeddings/oleObject2.bin"/><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png"/><Relationship Id="rId5" Type="http://schemas.openxmlformats.org/officeDocument/2006/relationships/oleObject" Target="../embeddings/oleObject4.bin"/><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5E54-29C7-44FF-A3EC-0E098214E232}"/>
              </a:ext>
            </a:extLst>
          </p:cNvPr>
          <p:cNvSpPr>
            <a:spLocks noGrp="1"/>
          </p:cNvSpPr>
          <p:nvPr>
            <p:ph type="ctrTitle"/>
          </p:nvPr>
        </p:nvSpPr>
        <p:spPr>
          <a:xfrm>
            <a:off x="2048608" y="800100"/>
            <a:ext cx="5336929" cy="3277112"/>
          </a:xfrm>
        </p:spPr>
        <p:txBody>
          <a:bodyPr/>
          <a:lstStyle/>
          <a:p>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WELCOME</a:t>
            </a:r>
          </a:p>
        </p:txBody>
      </p:sp>
    </p:spTree>
    <p:extLst>
      <p:ext uri="{BB962C8B-B14F-4D97-AF65-F5344CB8AC3E}">
        <p14:creationId xmlns:p14="http://schemas.microsoft.com/office/powerpoint/2010/main" val="1894472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120A0-AF15-4281-9A93-F559357B9BE8}"/>
              </a:ext>
            </a:extLst>
          </p:cNvPr>
          <p:cNvSpPr>
            <a:spLocks noGrp="1"/>
          </p:cNvSpPr>
          <p:nvPr>
            <p:ph type="title"/>
          </p:nvPr>
        </p:nvSpPr>
        <p:spPr>
          <a:xfrm>
            <a:off x="677334" y="609600"/>
            <a:ext cx="8596668" cy="1131277"/>
          </a:xfrm>
        </p:spPr>
        <p:txBody>
          <a:bodyPr>
            <a:normAutofit/>
          </a:bodyPr>
          <a:lstStyle/>
          <a:p>
            <a:r>
              <a:rPr lang="en-US" sz="4000" b="1" dirty="0">
                <a:latin typeface="Times New Roman" panose="02020603050405020304" pitchFamily="18" charset="0"/>
                <a:cs typeface="Times New Roman" panose="02020603050405020304" pitchFamily="18" charset="0"/>
              </a:rPr>
              <a:t>        Hospital Management System</a:t>
            </a:r>
          </a:p>
        </p:txBody>
      </p:sp>
      <p:sp>
        <p:nvSpPr>
          <p:cNvPr id="3" name="Content Placeholder 2">
            <a:extLst>
              <a:ext uri="{FF2B5EF4-FFF2-40B4-BE49-F238E27FC236}">
                <a16:creationId xmlns:a16="http://schemas.microsoft.com/office/drawing/2014/main" id="{C701F3D7-CD6F-41B5-927F-22A47BF82C22}"/>
              </a:ext>
            </a:extLst>
          </p:cNvPr>
          <p:cNvSpPr>
            <a:spLocks noGrp="1"/>
          </p:cNvSpPr>
          <p:nvPr>
            <p:ph idx="1"/>
          </p:nvPr>
        </p:nvSpPr>
        <p:spPr>
          <a:xfrm>
            <a:off x="677333" y="1740877"/>
            <a:ext cx="8897489" cy="4853354"/>
          </a:xfrm>
        </p:spPr>
        <p:txBody>
          <a:bodyPr/>
          <a:lstStyle/>
          <a:p>
            <a:pPr marL="0" marR="0" indent="0">
              <a:lnSpc>
                <a:spcPct val="107000"/>
              </a:lnSpc>
              <a:spcBef>
                <a:spcPts val="0"/>
              </a:spcBef>
              <a:spcAft>
                <a:spcPts val="800"/>
              </a:spcAft>
              <a:buNone/>
            </a:pPr>
            <a:r>
              <a:rPr lang="en-US" dirty="0"/>
              <a:t>                                                    </a:t>
            </a:r>
            <a:r>
              <a:rPr lang="en-US" sz="18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Submitted To: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Md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Mostofa</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Kamal Rasel </a:t>
            </a:r>
          </a:p>
          <a:p>
            <a:pPr marL="0" marR="0" indent="0" algn="ctr">
              <a:lnSpc>
                <a:spcPct val="107000"/>
              </a:lnSpc>
              <a:spcBef>
                <a:spcPts val="0"/>
              </a:spcBef>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Assistant Professor,</a:t>
            </a:r>
          </a:p>
          <a:p>
            <a:pPr marL="0" marR="0" indent="0" algn="ctr">
              <a:lnSpc>
                <a:spcPct val="107000"/>
              </a:lnSpc>
              <a:spcBef>
                <a:spcPts val="0"/>
              </a:spcBef>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Department of Computer Science and Engineering</a:t>
            </a:r>
          </a:p>
          <a:p>
            <a:pPr marL="0" marR="0" indent="0" algn="ctr">
              <a:lnSpc>
                <a:spcPct val="107000"/>
              </a:lnSpc>
              <a:spcBef>
                <a:spcPts val="0"/>
              </a:spcBef>
              <a:spcAft>
                <a:spcPts val="800"/>
              </a:spcAft>
              <a:buNone/>
            </a:pP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800"/>
              </a:spcAft>
              <a:buNone/>
            </a:pPr>
            <a:r>
              <a:rPr lang="en-US" sz="18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Submitted By: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Sanat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Kumar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Mollick</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2019-1-60-166				</a:t>
            </a:r>
          </a:p>
          <a:p>
            <a:pPr marL="0" marR="0" indent="0" algn="ctr">
              <a:lnSpc>
                <a:spcPct val="107000"/>
              </a:lnSpc>
              <a:spcBef>
                <a:spcPts val="0"/>
              </a:spcBef>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Maliha Mohasin			2019-1-60-171				</a:t>
            </a:r>
          </a:p>
          <a:p>
            <a:pPr marL="0" marR="0" indent="0" algn="ctr">
              <a:lnSpc>
                <a:spcPct val="107000"/>
              </a:lnSpc>
              <a:spcBef>
                <a:spcPts val="0"/>
              </a:spcBef>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Fatema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Tuj</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Johora</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2019-1-60-198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692813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023FF-A4D0-4C6B-9CB8-C204509DC719}"/>
              </a:ext>
            </a:extLst>
          </p:cNvPr>
          <p:cNvSpPr>
            <a:spLocks noGrp="1"/>
          </p:cNvSpPr>
          <p:nvPr>
            <p:ph type="title"/>
          </p:nvPr>
        </p:nvSpPr>
        <p:spPr>
          <a:xfrm>
            <a:off x="677334" y="609600"/>
            <a:ext cx="8596668" cy="955431"/>
          </a:xfrm>
        </p:spPr>
        <p:txBody>
          <a:bodyPr/>
          <a:lstStyle/>
          <a:p>
            <a:r>
              <a:rPr lang="en-US" b="1" dirty="0">
                <a:latin typeface="Times New Roman" panose="02020603050405020304" pitchFamily="18" charset="0"/>
                <a:cs typeface="Times New Roman" panose="02020603050405020304" pitchFamily="18" charset="0"/>
              </a:rPr>
              <a:t>                      Description  </a:t>
            </a:r>
          </a:p>
        </p:txBody>
      </p:sp>
      <p:sp>
        <p:nvSpPr>
          <p:cNvPr id="3" name="Content Placeholder 2">
            <a:extLst>
              <a:ext uri="{FF2B5EF4-FFF2-40B4-BE49-F238E27FC236}">
                <a16:creationId xmlns:a16="http://schemas.microsoft.com/office/drawing/2014/main" id="{EF44E01E-DD18-41D1-B68F-8020EDD96BA5}"/>
              </a:ext>
            </a:extLst>
          </p:cNvPr>
          <p:cNvSpPr>
            <a:spLocks noGrp="1"/>
          </p:cNvSpPr>
          <p:nvPr>
            <p:ph idx="1"/>
          </p:nvPr>
        </p:nvSpPr>
        <p:spPr>
          <a:xfrm>
            <a:off x="677334" y="1732085"/>
            <a:ext cx="8596668" cy="4309277"/>
          </a:xfrm>
        </p:spPr>
        <p:txBody>
          <a:bodyPr/>
          <a:lstStyle/>
          <a:p>
            <a:pPr marL="0" marR="819785" indent="0" algn="just">
              <a:lnSpc>
                <a:spcPct val="107000"/>
              </a:lnSpc>
              <a:spcBef>
                <a:spcPts val="1010"/>
              </a:spcBef>
              <a:spcAft>
                <a:spcPts val="0"/>
              </a:spcAft>
              <a:buNone/>
            </a:pPr>
            <a:r>
              <a:rPr lang="en-US" sz="1800" dirty="0">
                <a:effectLst/>
                <a:latin typeface="Times New Roman" panose="02020603050405020304" pitchFamily="18" charset="0"/>
                <a:ea typeface="Calibri" panose="020F0502020204030204" pitchFamily="34" charset="0"/>
              </a:rPr>
              <a:t>Our project is about a Hospital Management System in which all of the data is stored in a single database. A Patient ID will be assigned to each patient. The patient's complete profile, including personal information and phone number, is followed by a description of the disease and the current treatment. Patients will be handled by the doctor, and one doctor can treat multiple patients. In addition, each doctor will be assigned a unique ID. There will be a connection between the doctor and the patients. Hospitalization is an option for patients. There will be distinct room numbers, as well as rooms for Operation Theaters and ICU. There are some nurses and ward boys who are responsible for the hospital's upkeep and patient care. A treatment bill will be created based on the number of days.</a:t>
            </a:r>
            <a:endParaRPr lang="en-US" sz="1800" dirty="0">
              <a:effectLst/>
              <a:latin typeface="Calibri" panose="020F0502020204030204" pitchFamily="34" charset="0"/>
              <a:ea typeface="Calibri" panose="020F0502020204030204" pitchFamily="34" charset="0"/>
            </a:endParaRPr>
          </a:p>
          <a:p>
            <a:pPr marL="0" marR="0" indent="0" algn="just">
              <a:lnSpc>
                <a:spcPct val="107000"/>
              </a:lnSpc>
              <a:spcBef>
                <a:spcPts val="0"/>
              </a:spcBef>
              <a:spcAft>
                <a:spcPts val="800"/>
              </a:spcAft>
              <a:buNone/>
            </a:pPr>
            <a:r>
              <a:rPr lang="en-US" sz="1800" b="1" u="none" strike="noStrike"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73505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8DB3A-9DD4-4ECB-8CD6-1E717D561C79}"/>
              </a:ext>
            </a:extLst>
          </p:cNvPr>
          <p:cNvSpPr>
            <a:spLocks noGrp="1"/>
          </p:cNvSpPr>
          <p:nvPr>
            <p:ph type="title"/>
          </p:nvPr>
        </p:nvSpPr>
        <p:spPr/>
        <p:txBody>
          <a:bodyPr/>
          <a:lstStyle/>
          <a:p>
            <a:r>
              <a:rPr lang="en-US" dirty="0"/>
              <a:t>      </a:t>
            </a:r>
            <a:br>
              <a:rPr lang="en-US" dirty="0"/>
            </a:br>
            <a:r>
              <a:rPr lang="en-US" dirty="0"/>
              <a:t>                   </a:t>
            </a:r>
            <a:r>
              <a:rPr lang="en-US" b="1" dirty="0">
                <a:latin typeface="Times New Roman" panose="02020603050405020304" pitchFamily="18" charset="0"/>
                <a:cs typeface="Times New Roman" panose="02020603050405020304" pitchFamily="18" charset="0"/>
              </a:rPr>
              <a:t>Entity Sets : </a:t>
            </a:r>
          </a:p>
        </p:txBody>
      </p:sp>
      <p:sp>
        <p:nvSpPr>
          <p:cNvPr id="3" name="Content Placeholder 2">
            <a:extLst>
              <a:ext uri="{FF2B5EF4-FFF2-40B4-BE49-F238E27FC236}">
                <a16:creationId xmlns:a16="http://schemas.microsoft.com/office/drawing/2014/main" id="{79919CDC-A0A2-460C-B923-7396FE70D713}"/>
              </a:ext>
            </a:extLst>
          </p:cNvPr>
          <p:cNvSpPr>
            <a:spLocks noGrp="1"/>
          </p:cNvSpPr>
          <p:nvPr>
            <p:ph idx="1"/>
          </p:nvPr>
        </p:nvSpPr>
        <p:spPr>
          <a:xfrm>
            <a:off x="3525714" y="2160589"/>
            <a:ext cx="5748287" cy="3880773"/>
          </a:xfrm>
        </p:spPr>
        <p:txBody>
          <a:bodyPr/>
          <a:lstStyle/>
          <a:p>
            <a:pPr>
              <a:buFont typeface="+mj-lt"/>
              <a:buAutoNum type="arabicPeriod"/>
            </a:pPr>
            <a:r>
              <a:rPr lang="en-US" dirty="0">
                <a:latin typeface="Times New Roman" panose="02020603050405020304" pitchFamily="18" charset="0"/>
                <a:cs typeface="Times New Roman" panose="02020603050405020304" pitchFamily="18" charset="0"/>
              </a:rPr>
              <a:t>Hospital </a:t>
            </a:r>
          </a:p>
          <a:p>
            <a:pPr>
              <a:buFont typeface="+mj-lt"/>
              <a:buAutoNum type="arabicPeriod"/>
            </a:pPr>
            <a:r>
              <a:rPr lang="en-US" dirty="0">
                <a:latin typeface="Times New Roman" panose="02020603050405020304" pitchFamily="18" charset="0"/>
                <a:cs typeface="Times New Roman" panose="02020603050405020304" pitchFamily="18" charset="0"/>
              </a:rPr>
              <a:t>Patient </a:t>
            </a:r>
          </a:p>
          <a:p>
            <a:pPr>
              <a:buFont typeface="+mj-lt"/>
              <a:buAutoNum type="arabicPeriod"/>
            </a:pPr>
            <a:r>
              <a:rPr lang="en-US" dirty="0">
                <a:latin typeface="Times New Roman" panose="02020603050405020304" pitchFamily="18" charset="0"/>
                <a:cs typeface="Times New Roman" panose="02020603050405020304" pitchFamily="18" charset="0"/>
              </a:rPr>
              <a:t>Doctor</a:t>
            </a:r>
          </a:p>
          <a:p>
            <a:pPr>
              <a:buFont typeface="+mj-lt"/>
              <a:buAutoNum type="arabicPeriod"/>
            </a:pPr>
            <a:r>
              <a:rPr lang="en-US" dirty="0">
                <a:latin typeface="Times New Roman" panose="02020603050405020304" pitchFamily="18" charset="0"/>
                <a:cs typeface="Times New Roman" panose="02020603050405020304" pitchFamily="18" charset="0"/>
              </a:rPr>
              <a:t>Nurse</a:t>
            </a:r>
          </a:p>
          <a:p>
            <a:pPr>
              <a:buFont typeface="+mj-lt"/>
              <a:buAutoNum type="arabicPeriod"/>
            </a:pPr>
            <a:r>
              <a:rPr lang="en-US" dirty="0">
                <a:latin typeface="Times New Roman" panose="02020603050405020304" pitchFamily="18" charset="0"/>
                <a:cs typeface="Times New Roman" panose="02020603050405020304" pitchFamily="18" charset="0"/>
              </a:rPr>
              <a:t>Ward boy</a:t>
            </a:r>
          </a:p>
          <a:p>
            <a:pPr>
              <a:buFont typeface="+mj-lt"/>
              <a:buAutoNum type="arabicPeriod"/>
            </a:pPr>
            <a:r>
              <a:rPr lang="en-US" dirty="0">
                <a:latin typeface="Times New Roman" panose="02020603050405020304" pitchFamily="18" charset="0"/>
                <a:cs typeface="Times New Roman" panose="02020603050405020304" pitchFamily="18" charset="0"/>
              </a:rPr>
              <a:t>Bill</a:t>
            </a:r>
          </a:p>
          <a:p>
            <a:pPr>
              <a:buFont typeface="+mj-lt"/>
              <a:buAutoNum type="arabicPeriod"/>
            </a:pPr>
            <a:r>
              <a:rPr lang="en-US" dirty="0">
                <a:latin typeface="Times New Roman" panose="02020603050405020304" pitchFamily="18" charset="0"/>
                <a:cs typeface="Times New Roman" panose="02020603050405020304" pitchFamily="18" charset="0"/>
              </a:rPr>
              <a:t>Special site</a:t>
            </a:r>
          </a:p>
        </p:txBody>
      </p:sp>
    </p:spTree>
    <p:extLst>
      <p:ext uri="{BB962C8B-B14F-4D97-AF65-F5344CB8AC3E}">
        <p14:creationId xmlns:p14="http://schemas.microsoft.com/office/powerpoint/2010/main" val="2589145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2F7A-20E5-4394-A1CF-B10D22800E94}"/>
              </a:ext>
            </a:extLst>
          </p:cNvPr>
          <p:cNvSpPr>
            <a:spLocks noGrp="1"/>
          </p:cNvSpPr>
          <p:nvPr>
            <p:ph type="title"/>
          </p:nvPr>
        </p:nvSpPr>
        <p:spPr/>
        <p:txBody>
          <a:bodyPr/>
          <a:lstStyle/>
          <a:p>
            <a:r>
              <a:rPr lang="en-US" dirty="0"/>
              <a:t>                    </a:t>
            </a:r>
            <a:r>
              <a:rPr lang="en-US" b="1" dirty="0">
                <a:latin typeface="Times New Roman" panose="02020603050405020304" pitchFamily="18" charset="0"/>
                <a:cs typeface="Times New Roman" panose="02020603050405020304" pitchFamily="18" charset="0"/>
              </a:rPr>
              <a:t>E-R Diagram</a:t>
            </a:r>
          </a:p>
        </p:txBody>
      </p:sp>
      <p:pic>
        <p:nvPicPr>
          <p:cNvPr id="5" name="Content Placeholder 4" descr="Diagram, schematic&#10;&#10;Description automatically generated">
            <a:extLst>
              <a:ext uri="{FF2B5EF4-FFF2-40B4-BE49-F238E27FC236}">
                <a16:creationId xmlns:a16="http://schemas.microsoft.com/office/drawing/2014/main" id="{38B89037-B4E2-4532-A8C4-E1F75CB1737A}"/>
              </a:ext>
            </a:extLst>
          </p:cNvPr>
          <p:cNvPicPr>
            <a:picLocks noGrp="1" noChangeAspect="1"/>
          </p:cNvPicPr>
          <p:nvPr>
            <p:ph idx="1"/>
          </p:nvPr>
        </p:nvPicPr>
        <p:blipFill>
          <a:blip r:embed="rId2"/>
          <a:stretch>
            <a:fillRect/>
          </a:stretch>
        </p:blipFill>
        <p:spPr>
          <a:xfrm>
            <a:off x="1014534" y="1930400"/>
            <a:ext cx="8259468" cy="4391269"/>
          </a:xfrm>
        </p:spPr>
      </p:pic>
    </p:spTree>
    <p:extLst>
      <p:ext uri="{BB962C8B-B14F-4D97-AF65-F5344CB8AC3E}">
        <p14:creationId xmlns:p14="http://schemas.microsoft.com/office/powerpoint/2010/main" val="1816101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1C720-0524-4102-95A3-B5980A9FB52C}"/>
              </a:ext>
            </a:extLst>
          </p:cNvPr>
          <p:cNvSpPr>
            <a:spLocks noGrp="1"/>
          </p:cNvSpPr>
          <p:nvPr>
            <p:ph type="title"/>
          </p:nvPr>
        </p:nvSpPr>
        <p:spPr/>
        <p:txBody>
          <a:bodyPr/>
          <a:lstStyle/>
          <a:p>
            <a:r>
              <a:rPr lang="en-US" dirty="0"/>
              <a:t>               </a:t>
            </a:r>
            <a:r>
              <a:rPr lang="en-US" b="1" dirty="0">
                <a:latin typeface="Times New Roman" panose="02020603050405020304" pitchFamily="18" charset="0"/>
                <a:cs typeface="Times New Roman" panose="02020603050405020304" pitchFamily="18" charset="0"/>
              </a:rPr>
              <a:t>Relational Schema</a:t>
            </a:r>
          </a:p>
        </p:txBody>
      </p:sp>
      <p:pic>
        <p:nvPicPr>
          <p:cNvPr id="5" name="Content Placeholder 4" descr="Diagram, engineering drawing&#10;&#10;Description automatically generated">
            <a:extLst>
              <a:ext uri="{FF2B5EF4-FFF2-40B4-BE49-F238E27FC236}">
                <a16:creationId xmlns:a16="http://schemas.microsoft.com/office/drawing/2014/main" id="{BFA57264-40D6-4E42-8690-AFBABDD722C6}"/>
              </a:ext>
            </a:extLst>
          </p:cNvPr>
          <p:cNvPicPr>
            <a:picLocks noGrp="1" noChangeAspect="1"/>
          </p:cNvPicPr>
          <p:nvPr>
            <p:ph idx="1"/>
          </p:nvPr>
        </p:nvPicPr>
        <p:blipFill>
          <a:blip r:embed="rId2"/>
          <a:stretch>
            <a:fillRect/>
          </a:stretch>
        </p:blipFill>
        <p:spPr>
          <a:xfrm>
            <a:off x="800100" y="1619250"/>
            <a:ext cx="8353425" cy="4876800"/>
          </a:xfrm>
        </p:spPr>
      </p:pic>
    </p:spTree>
    <p:extLst>
      <p:ext uri="{BB962C8B-B14F-4D97-AF65-F5344CB8AC3E}">
        <p14:creationId xmlns:p14="http://schemas.microsoft.com/office/powerpoint/2010/main" val="1053703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DC96C-F65C-45C9-8681-7877A3CF4559}"/>
              </a:ext>
            </a:extLst>
          </p:cNvPr>
          <p:cNvSpPr>
            <a:spLocks noGrp="1"/>
          </p:cNvSpPr>
          <p:nvPr>
            <p:ph type="title"/>
          </p:nvPr>
        </p:nvSpPr>
        <p:spPr>
          <a:xfrm>
            <a:off x="677334" y="609600"/>
            <a:ext cx="8596668" cy="981075"/>
          </a:xfrm>
        </p:spPr>
        <p:txBody>
          <a:bodyPr/>
          <a:lstStyle/>
          <a:p>
            <a:r>
              <a:rPr lang="en-US" b="1" dirty="0">
                <a:latin typeface="Times New Roman" panose="02020603050405020304" pitchFamily="18" charset="0"/>
                <a:cs typeface="Times New Roman" panose="02020603050405020304" pitchFamily="18" charset="0"/>
              </a:rPr>
              <a:t>                       Join Query </a:t>
            </a:r>
          </a:p>
        </p:txBody>
      </p:sp>
      <p:sp>
        <p:nvSpPr>
          <p:cNvPr id="3" name="Content Placeholder 2">
            <a:extLst>
              <a:ext uri="{FF2B5EF4-FFF2-40B4-BE49-F238E27FC236}">
                <a16:creationId xmlns:a16="http://schemas.microsoft.com/office/drawing/2014/main" id="{0F4D7257-2A30-420D-B299-A1C44AC49F72}"/>
              </a:ext>
            </a:extLst>
          </p:cNvPr>
          <p:cNvSpPr>
            <a:spLocks noGrp="1"/>
          </p:cNvSpPr>
          <p:nvPr>
            <p:ph idx="1"/>
          </p:nvPr>
        </p:nvSpPr>
        <p:spPr>
          <a:xfrm>
            <a:off x="1495426" y="1704974"/>
            <a:ext cx="7391400" cy="4248149"/>
          </a:xfrm>
        </p:spPr>
        <p:txBody>
          <a:bodyPr/>
          <a:lstStyle/>
          <a:p>
            <a:pPr marL="0" indent="0">
              <a:buNone/>
            </a:pPr>
            <a:endParaRPr lang="en-US" dirty="0"/>
          </a:p>
        </p:txBody>
      </p:sp>
      <p:graphicFrame>
        <p:nvGraphicFramePr>
          <p:cNvPr id="4" name="Object 3">
            <a:extLst>
              <a:ext uri="{FF2B5EF4-FFF2-40B4-BE49-F238E27FC236}">
                <a16:creationId xmlns:a16="http://schemas.microsoft.com/office/drawing/2014/main" id="{8F5D3F83-810D-45A7-BFF8-0D8490CE7684}"/>
              </a:ext>
            </a:extLst>
          </p:cNvPr>
          <p:cNvGraphicFramePr>
            <a:graphicFrameLocks/>
          </p:cNvGraphicFramePr>
          <p:nvPr>
            <p:extLst>
              <p:ext uri="{D42A27DB-BD31-4B8C-83A1-F6EECF244321}">
                <p14:modId xmlns:p14="http://schemas.microsoft.com/office/powerpoint/2010/main" val="736148852"/>
              </p:ext>
            </p:extLst>
          </p:nvPr>
        </p:nvGraphicFramePr>
        <p:xfrm>
          <a:off x="2271432" y="3640697"/>
          <a:ext cx="5778874" cy="685703"/>
        </p:xfrm>
        <a:graphic>
          <a:graphicData uri="http://schemas.openxmlformats.org/presentationml/2006/ole">
            <mc:AlternateContent xmlns:mc="http://schemas.openxmlformats.org/markup-compatibility/2006">
              <mc:Choice xmlns:v="urn:schemas-microsoft-com:vml" Requires="v">
                <p:oleObj spid="_x0000_s1030" name="Picture" r:id="rId3" imgW="12368332" imgH="883997" progId="StaticDib">
                  <p:embed/>
                </p:oleObj>
              </mc:Choice>
              <mc:Fallback>
                <p:oleObj name="Picture" r:id="rId3" imgW="12368332" imgH="883997" progId="StaticDib">
                  <p:embed/>
                  <p:pic>
                    <p:nvPicPr>
                      <p:cNvPr id="0" name="rectole000000000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1432" y="3640697"/>
                        <a:ext cx="5778874" cy="685703"/>
                      </a:xfrm>
                      <a:prstGeom prst="rect">
                        <a:avLst/>
                      </a:prstGeom>
                      <a:solidFill>
                        <a:srgbClr val="FFFFFF"/>
                      </a:solidFill>
                      <a:ln>
                        <a:noFill/>
                      </a:ln>
                    </p:spPr>
                  </p:pic>
                </p:oleObj>
              </mc:Fallback>
            </mc:AlternateContent>
          </a:graphicData>
        </a:graphic>
      </p:graphicFrame>
      <p:graphicFrame>
        <p:nvGraphicFramePr>
          <p:cNvPr id="5" name="Object 4">
            <a:extLst>
              <a:ext uri="{FF2B5EF4-FFF2-40B4-BE49-F238E27FC236}">
                <a16:creationId xmlns:a16="http://schemas.microsoft.com/office/drawing/2014/main" id="{9E8F1B7D-5370-468C-8FA9-129877B20610}"/>
              </a:ext>
            </a:extLst>
          </p:cNvPr>
          <p:cNvGraphicFramePr>
            <a:graphicFrameLocks/>
          </p:cNvGraphicFramePr>
          <p:nvPr>
            <p:extLst>
              <p:ext uri="{D42A27DB-BD31-4B8C-83A1-F6EECF244321}">
                <p14:modId xmlns:p14="http://schemas.microsoft.com/office/powerpoint/2010/main" val="2060424"/>
              </p:ext>
            </p:extLst>
          </p:nvPr>
        </p:nvGraphicFramePr>
        <p:xfrm>
          <a:off x="2343150" y="4326400"/>
          <a:ext cx="5707156" cy="685702"/>
        </p:xfrm>
        <a:graphic>
          <a:graphicData uri="http://schemas.openxmlformats.org/presentationml/2006/ole">
            <mc:AlternateContent xmlns:mc="http://schemas.openxmlformats.org/markup-compatibility/2006">
              <mc:Choice xmlns:v="urn:schemas-microsoft-com:vml" Requires="v">
                <p:oleObj spid="_x0000_s1031" name="Picture" r:id="rId5" imgW="12414056" imgH="922100" progId="StaticDib">
                  <p:embed/>
                </p:oleObj>
              </mc:Choice>
              <mc:Fallback>
                <p:oleObj name="Picture" r:id="rId5" imgW="12414056" imgH="922100" progId="StaticDib">
                  <p:embed/>
                  <p:pic>
                    <p:nvPicPr>
                      <p:cNvPr id="0" name="rectole000000001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3150" y="4326400"/>
                        <a:ext cx="5707156" cy="685702"/>
                      </a:xfrm>
                      <a:prstGeom prst="rect">
                        <a:avLst/>
                      </a:prstGeom>
                      <a:solidFill>
                        <a:srgbClr val="FFFFFF"/>
                      </a:solidFill>
                      <a:ln>
                        <a:noFill/>
                      </a:ln>
                    </p:spPr>
                  </p:pic>
                </p:oleObj>
              </mc:Fallback>
            </mc:AlternateContent>
          </a:graphicData>
        </a:graphic>
      </p:graphicFrame>
      <p:sp>
        <p:nvSpPr>
          <p:cNvPr id="6" name="Rectangle 3">
            <a:extLst>
              <a:ext uri="{FF2B5EF4-FFF2-40B4-BE49-F238E27FC236}">
                <a16:creationId xmlns:a16="http://schemas.microsoft.com/office/drawing/2014/main" id="{E46FE45D-E539-472A-8D06-FDCE964A7EB5}"/>
              </a:ext>
            </a:extLst>
          </p:cNvPr>
          <p:cNvSpPr>
            <a:spLocks noChangeArrowheads="1"/>
          </p:cNvSpPr>
          <p:nvPr/>
        </p:nvSpPr>
        <p:spPr bwMode="auto">
          <a:xfrm>
            <a:off x="2343150" y="2341861"/>
            <a:ext cx="435959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SELECT* </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FROM </a:t>
            </a:r>
            <a:r>
              <a:rPr kumimoji="0" lang="en-US" altLang="en-US" sz="12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patients_details</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AS p INNER JOIN </a:t>
            </a:r>
            <a:r>
              <a:rPr kumimoji="0" lang="en-US" altLang="en-US" sz="12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doctor_details_list</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AS d</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WHERE </a:t>
            </a:r>
            <a:r>
              <a:rPr kumimoji="0" lang="en-US" altLang="en-US" sz="12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p.symptom</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'Liver Pain' and </a:t>
            </a:r>
            <a:r>
              <a:rPr kumimoji="0" lang="en-US" altLang="en-US" sz="12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d.info_id</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500</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F091922B-943D-42C7-B55F-B356FCCA9E29}"/>
              </a:ext>
            </a:extLst>
          </p:cNvPr>
          <p:cNvSpPr>
            <a:spLocks noChangeArrowheads="1"/>
          </p:cNvSpPr>
          <p:nvPr/>
        </p:nvSpPr>
        <p:spPr bwMode="auto">
          <a:xfrm>
            <a:off x="234315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5">
            <a:extLst>
              <a:ext uri="{FF2B5EF4-FFF2-40B4-BE49-F238E27FC236}">
                <a16:creationId xmlns:a16="http://schemas.microsoft.com/office/drawing/2014/main" id="{EA42CDC6-40A6-4F3C-8FC7-707A4B2CE764}"/>
              </a:ext>
            </a:extLst>
          </p:cNvPr>
          <p:cNvSpPr>
            <a:spLocks noChangeArrowheads="1"/>
          </p:cNvSpPr>
          <p:nvPr/>
        </p:nvSpPr>
        <p:spPr bwMode="auto">
          <a:xfrm>
            <a:off x="2343150" y="3840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92191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EB909F-0546-4637-AB99-93F21EA77D19}"/>
              </a:ext>
            </a:extLst>
          </p:cNvPr>
          <p:cNvSpPr>
            <a:spLocks noGrp="1"/>
          </p:cNvSpPr>
          <p:nvPr>
            <p:ph idx="1"/>
          </p:nvPr>
        </p:nvSpPr>
        <p:spPr>
          <a:xfrm>
            <a:off x="1327964" y="1292470"/>
            <a:ext cx="9892583" cy="5425900"/>
          </a:xfrm>
        </p:spPr>
        <p:txBody>
          <a:bodyPr/>
          <a:lstStyle/>
          <a:p>
            <a:pPr marL="0" marR="0" indent="0">
              <a:lnSpc>
                <a:spcPct val="107000"/>
              </a:lnSpc>
              <a:spcBef>
                <a:spcPts val="0"/>
              </a:spcBef>
              <a:spcAft>
                <a:spcPts val="10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SELECT*</a:t>
            </a:r>
          </a:p>
          <a:p>
            <a:pPr marL="0" marR="0" indent="0">
              <a:lnSpc>
                <a:spcPct val="107000"/>
              </a:lnSpc>
              <a:spcBef>
                <a:spcPts val="0"/>
              </a:spcBef>
              <a:spcAft>
                <a:spcPts val="1000"/>
              </a:spcAft>
              <a:buNone/>
            </a:pPr>
            <a:r>
              <a:rPr lang="en-US" sz="1200" dirty="0">
                <a:latin typeface="Times New Roman" panose="02020603050405020304" pitchFamily="18" charset="0"/>
                <a:ea typeface="Calibri" panose="020F0502020204030204" pitchFamily="34" charset="0"/>
                <a:cs typeface="Times New Roman" panose="02020603050405020304" pitchFamily="18" charset="0"/>
              </a:rPr>
              <a:t>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FROM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patients_details</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as p</a:t>
            </a:r>
          </a:p>
          <a:p>
            <a:pPr marL="0" marR="0" indent="0">
              <a:lnSpc>
                <a:spcPct val="107000"/>
              </a:lnSpc>
              <a:spcBef>
                <a:spcPts val="0"/>
              </a:spcBef>
              <a:spcAft>
                <a:spcPts val="1000"/>
              </a:spcAft>
              <a:buNone/>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LEFT OUTER JOIN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doctor_details_list</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d</a:t>
            </a:r>
          </a:p>
          <a:p>
            <a:pPr marL="0" marR="0" indent="0">
              <a:lnSpc>
                <a:spcPct val="107000"/>
              </a:lnSpc>
              <a:spcBef>
                <a:spcPts val="0"/>
              </a:spcBef>
              <a:spcAft>
                <a:spcPts val="1000"/>
              </a:spcAft>
              <a:buNone/>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ON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p.patient_id</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d.doctor_id</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1000"/>
              </a:spcAft>
              <a:buNone/>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ORDER BY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p.patient_id</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1000"/>
              </a:spcAft>
              <a:buNone/>
            </a:pPr>
            <a:endParaRPr lang="en-US" dirty="0"/>
          </a:p>
        </p:txBody>
      </p:sp>
      <p:graphicFrame>
        <p:nvGraphicFramePr>
          <p:cNvPr id="4" name="Object 3">
            <a:extLst>
              <a:ext uri="{FF2B5EF4-FFF2-40B4-BE49-F238E27FC236}">
                <a16:creationId xmlns:a16="http://schemas.microsoft.com/office/drawing/2014/main" id="{BCE951D9-996A-496E-AAFC-F3B7C40C4547}"/>
              </a:ext>
            </a:extLst>
          </p:cNvPr>
          <p:cNvGraphicFramePr>
            <a:graphicFrameLocks/>
          </p:cNvGraphicFramePr>
          <p:nvPr>
            <p:extLst>
              <p:ext uri="{D42A27DB-BD31-4B8C-83A1-F6EECF244321}">
                <p14:modId xmlns:p14="http://schemas.microsoft.com/office/powerpoint/2010/main" val="3820459851"/>
              </p:ext>
            </p:extLst>
          </p:nvPr>
        </p:nvGraphicFramePr>
        <p:xfrm>
          <a:off x="1565031" y="3545742"/>
          <a:ext cx="6392007" cy="677863"/>
        </p:xfrm>
        <a:graphic>
          <a:graphicData uri="http://schemas.openxmlformats.org/presentationml/2006/ole">
            <mc:AlternateContent xmlns:mc="http://schemas.openxmlformats.org/markup-compatibility/2006">
              <mc:Choice xmlns:v="urn:schemas-microsoft-com:vml" Requires="v">
                <p:oleObj spid="_x0000_s2054" name="Picture" r:id="rId3" imgW="11598645" imgH="1425064" progId="StaticDib">
                  <p:embed/>
                </p:oleObj>
              </mc:Choice>
              <mc:Fallback>
                <p:oleObj name="Picture" r:id="rId3" imgW="11598645" imgH="1425064" progId="StaticDib">
                  <p:embed/>
                  <p:pic>
                    <p:nvPicPr>
                      <p:cNvPr id="0" name="rectole00000000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5031" y="3545742"/>
                        <a:ext cx="6392007" cy="677863"/>
                      </a:xfrm>
                      <a:prstGeom prst="rect">
                        <a:avLst/>
                      </a:prstGeom>
                      <a:solidFill>
                        <a:srgbClr val="FFFFFF"/>
                      </a:solidFill>
                      <a:ln>
                        <a:noFill/>
                      </a:ln>
                    </p:spPr>
                  </p:pic>
                </p:oleObj>
              </mc:Fallback>
            </mc:AlternateContent>
          </a:graphicData>
        </a:graphic>
      </p:graphicFrame>
      <p:graphicFrame>
        <p:nvGraphicFramePr>
          <p:cNvPr id="5" name="Object 4">
            <a:extLst>
              <a:ext uri="{FF2B5EF4-FFF2-40B4-BE49-F238E27FC236}">
                <a16:creationId xmlns:a16="http://schemas.microsoft.com/office/drawing/2014/main" id="{FFDFF760-DD8E-4A5C-9262-18DF8665AC0A}"/>
              </a:ext>
            </a:extLst>
          </p:cNvPr>
          <p:cNvGraphicFramePr>
            <a:graphicFrameLocks/>
          </p:cNvGraphicFramePr>
          <p:nvPr>
            <p:extLst>
              <p:ext uri="{D42A27DB-BD31-4B8C-83A1-F6EECF244321}">
                <p14:modId xmlns:p14="http://schemas.microsoft.com/office/powerpoint/2010/main" val="1376917991"/>
              </p:ext>
            </p:extLst>
          </p:nvPr>
        </p:nvGraphicFramePr>
        <p:xfrm>
          <a:off x="1565031" y="4381868"/>
          <a:ext cx="6313454" cy="639762"/>
        </p:xfrm>
        <a:graphic>
          <a:graphicData uri="http://schemas.openxmlformats.org/presentationml/2006/ole">
            <mc:AlternateContent xmlns:mc="http://schemas.openxmlformats.org/markup-compatibility/2006">
              <mc:Choice xmlns:v="urn:schemas-microsoft-com:vml" Requires="v">
                <p:oleObj spid="_x0000_s2055" name="Picture" r:id="rId5" imgW="11263336" imgH="1310754" progId="StaticDib">
                  <p:embed/>
                </p:oleObj>
              </mc:Choice>
              <mc:Fallback>
                <p:oleObj name="Picture" r:id="rId5" imgW="11263336" imgH="1310754" progId="StaticDib">
                  <p:embed/>
                  <p:pic>
                    <p:nvPicPr>
                      <p:cNvPr id="0" name="rectole000000001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5031" y="4381868"/>
                        <a:ext cx="6313454" cy="639762"/>
                      </a:xfrm>
                      <a:prstGeom prst="rect">
                        <a:avLst/>
                      </a:prstGeom>
                      <a:solidFill>
                        <a:srgbClr val="FFFFFF"/>
                      </a:solidFill>
                      <a:ln>
                        <a:noFill/>
                      </a:ln>
                    </p:spPr>
                  </p:pic>
                </p:oleObj>
              </mc:Fallback>
            </mc:AlternateContent>
          </a:graphicData>
        </a:graphic>
      </p:graphicFrame>
      <p:sp>
        <p:nvSpPr>
          <p:cNvPr id="6" name="Rectangle 3">
            <a:extLst>
              <a:ext uri="{FF2B5EF4-FFF2-40B4-BE49-F238E27FC236}">
                <a16:creationId xmlns:a16="http://schemas.microsoft.com/office/drawing/2014/main" id="{5109A061-9137-4E42-9BB8-B24298E2EB2B}"/>
              </a:ext>
            </a:extLst>
          </p:cNvPr>
          <p:cNvSpPr>
            <a:spLocks noChangeArrowheads="1"/>
          </p:cNvSpPr>
          <p:nvPr/>
        </p:nvSpPr>
        <p:spPr bwMode="auto">
          <a:xfrm>
            <a:off x="650630" y="677007"/>
            <a:ext cx="1402989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7" name="Rectangle 4">
            <a:extLst>
              <a:ext uri="{FF2B5EF4-FFF2-40B4-BE49-F238E27FC236}">
                <a16:creationId xmlns:a16="http://schemas.microsoft.com/office/drawing/2014/main" id="{457037C2-EF78-462A-9705-02370FDB38D5}"/>
              </a:ext>
            </a:extLst>
          </p:cNvPr>
          <p:cNvSpPr>
            <a:spLocks noChangeArrowheads="1"/>
          </p:cNvSpPr>
          <p:nvPr/>
        </p:nvSpPr>
        <p:spPr bwMode="auto">
          <a:xfrm>
            <a:off x="650630" y="1812070"/>
            <a:ext cx="1402989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Rectangle 5">
            <a:extLst>
              <a:ext uri="{FF2B5EF4-FFF2-40B4-BE49-F238E27FC236}">
                <a16:creationId xmlns:a16="http://schemas.microsoft.com/office/drawing/2014/main" id="{0311E2D4-9697-4C3E-9893-22B59DA0FD17}"/>
              </a:ext>
            </a:extLst>
          </p:cNvPr>
          <p:cNvSpPr>
            <a:spLocks noChangeArrowheads="1"/>
          </p:cNvSpPr>
          <p:nvPr/>
        </p:nvSpPr>
        <p:spPr bwMode="auto">
          <a:xfrm>
            <a:off x="650630" y="2451832"/>
            <a:ext cx="1402989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24140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77642-174C-4578-B56B-6272F795FA9D}"/>
              </a:ext>
            </a:extLst>
          </p:cNvPr>
          <p:cNvSpPr>
            <a:spLocks noGrp="1"/>
          </p:cNvSpPr>
          <p:nvPr>
            <p:ph type="title"/>
          </p:nvPr>
        </p:nvSpPr>
        <p:spPr/>
        <p:txBody>
          <a:bodyPr/>
          <a:lstStyle/>
          <a:p>
            <a:r>
              <a:rPr lang="en-US" dirty="0"/>
              <a:t>                   </a:t>
            </a:r>
            <a:r>
              <a:rPr lang="en-US" b="1" dirty="0">
                <a:latin typeface="Times New Roman" panose="02020603050405020304" pitchFamily="18" charset="0"/>
                <a:cs typeface="Times New Roman" panose="02020603050405020304" pitchFamily="18" charset="0"/>
              </a:rPr>
              <a:t>Update</a:t>
            </a:r>
            <a:r>
              <a:rPr lang="en-US" dirty="0"/>
              <a:t> </a:t>
            </a:r>
          </a:p>
        </p:txBody>
      </p:sp>
      <p:sp>
        <p:nvSpPr>
          <p:cNvPr id="3" name="Content Placeholder 2">
            <a:extLst>
              <a:ext uri="{FF2B5EF4-FFF2-40B4-BE49-F238E27FC236}">
                <a16:creationId xmlns:a16="http://schemas.microsoft.com/office/drawing/2014/main" id="{9369A6A8-46FF-40A8-A19E-A49C0E39F4C7}"/>
              </a:ext>
            </a:extLst>
          </p:cNvPr>
          <p:cNvSpPr>
            <a:spLocks noGrp="1"/>
          </p:cNvSpPr>
          <p:nvPr>
            <p:ph idx="1"/>
          </p:nvPr>
        </p:nvSpPr>
        <p:spPr>
          <a:xfrm>
            <a:off x="677334" y="1644162"/>
            <a:ext cx="8596668" cy="4397200"/>
          </a:xfrm>
        </p:spPr>
        <p:txBody>
          <a:bodyPr/>
          <a:lstStyle/>
          <a:p>
            <a:pPr marL="0" marR="0" indent="0">
              <a:lnSpc>
                <a:spcPct val="107000"/>
              </a:lnSpc>
              <a:spcBef>
                <a:spcPts val="0"/>
              </a:spcBef>
              <a:spcAft>
                <a:spcPts val="1000"/>
              </a:spcAft>
              <a:buNone/>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UPDATE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doctor_details_list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1000"/>
              </a:spcAft>
              <a:buNone/>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SET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first_name</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Dr.Skm</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1000"/>
              </a:spcAft>
              <a:buNone/>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WHERE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first_name</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Dr.Angan</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r>
              <a:rPr lang="en-US" dirty="0"/>
              <a:t>                                </a:t>
            </a:r>
          </a:p>
        </p:txBody>
      </p:sp>
      <p:graphicFrame>
        <p:nvGraphicFramePr>
          <p:cNvPr id="4" name="Object 3">
            <a:extLst>
              <a:ext uri="{FF2B5EF4-FFF2-40B4-BE49-F238E27FC236}">
                <a16:creationId xmlns:a16="http://schemas.microsoft.com/office/drawing/2014/main" id="{4B21AA4F-7CB8-4230-8965-408717316CCC}"/>
              </a:ext>
            </a:extLst>
          </p:cNvPr>
          <p:cNvGraphicFramePr>
            <a:graphicFrameLocks/>
          </p:cNvGraphicFramePr>
          <p:nvPr>
            <p:extLst>
              <p:ext uri="{D42A27DB-BD31-4B8C-83A1-F6EECF244321}">
                <p14:modId xmlns:p14="http://schemas.microsoft.com/office/powerpoint/2010/main" val="3168399115"/>
              </p:ext>
            </p:extLst>
          </p:nvPr>
        </p:nvGraphicFramePr>
        <p:xfrm>
          <a:off x="2567354" y="2964962"/>
          <a:ext cx="3130061" cy="2164745"/>
        </p:xfrm>
        <a:graphic>
          <a:graphicData uri="http://schemas.openxmlformats.org/presentationml/2006/ole">
            <mc:AlternateContent xmlns:mc="http://schemas.openxmlformats.org/markup-compatibility/2006">
              <mc:Choice xmlns:v="urn:schemas-microsoft-com:vml" Requires="v">
                <p:oleObj spid="_x0000_s5121" name="Picture" r:id="rId3" imgW="2370025" imgH="2248095" progId="StaticDib">
                  <p:embed/>
                </p:oleObj>
              </mc:Choice>
              <mc:Fallback>
                <p:oleObj name="Picture" r:id="rId3" imgW="2370025" imgH="2248095" progId="StaticDib">
                  <p:embed/>
                  <p:pic>
                    <p:nvPicPr>
                      <p:cNvPr id="5" name="Object 4">
                        <a:extLst>
                          <a:ext uri="{FF2B5EF4-FFF2-40B4-BE49-F238E27FC236}">
                            <a16:creationId xmlns:a16="http://schemas.microsoft.com/office/drawing/2014/main" id="{88682BA4-3C08-40AA-8990-2EC53C1D612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7354" y="2964962"/>
                        <a:ext cx="3130061" cy="2164745"/>
                      </a:xfrm>
                      <a:prstGeom prst="rect">
                        <a:avLst/>
                      </a:prstGeom>
                      <a:solidFill>
                        <a:srgbClr val="FFFFFF"/>
                      </a:solidFill>
                      <a:ln>
                        <a:noFill/>
                      </a:ln>
                    </p:spPr>
                  </p:pic>
                </p:oleObj>
              </mc:Fallback>
            </mc:AlternateContent>
          </a:graphicData>
        </a:graphic>
      </p:graphicFrame>
    </p:spTree>
    <p:extLst>
      <p:ext uri="{BB962C8B-B14F-4D97-AF65-F5344CB8AC3E}">
        <p14:creationId xmlns:p14="http://schemas.microsoft.com/office/powerpoint/2010/main" val="2446223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B477-F93D-41EA-BA0C-88C5FE4CCEB8}"/>
              </a:ext>
            </a:extLst>
          </p:cNvPr>
          <p:cNvSpPr>
            <a:spLocks noGrp="1"/>
          </p:cNvSpPr>
          <p:nvPr>
            <p:ph type="title"/>
          </p:nvPr>
        </p:nvSpPr>
        <p:spPr>
          <a:xfrm>
            <a:off x="677334" y="609600"/>
            <a:ext cx="8596668" cy="647700"/>
          </a:xfrm>
        </p:spPr>
        <p:txBody>
          <a:bodyPr/>
          <a:lstStyle/>
          <a:p>
            <a:r>
              <a:rPr lang="en-US" b="1" dirty="0">
                <a:latin typeface="Times New Roman" panose="02020603050405020304" pitchFamily="18" charset="0"/>
                <a:cs typeface="Times New Roman" panose="02020603050405020304" pitchFamily="18" charset="0"/>
              </a:rPr>
              <a:t>                             Delete</a:t>
            </a:r>
          </a:p>
        </p:txBody>
      </p:sp>
      <p:sp>
        <p:nvSpPr>
          <p:cNvPr id="3" name="Content Placeholder 2">
            <a:extLst>
              <a:ext uri="{FF2B5EF4-FFF2-40B4-BE49-F238E27FC236}">
                <a16:creationId xmlns:a16="http://schemas.microsoft.com/office/drawing/2014/main" id="{D3DCDB20-940C-4E1F-A487-FDC61E4F44BC}"/>
              </a:ext>
            </a:extLst>
          </p:cNvPr>
          <p:cNvSpPr>
            <a:spLocks noGrp="1"/>
          </p:cNvSpPr>
          <p:nvPr>
            <p:ph idx="1"/>
          </p:nvPr>
        </p:nvSpPr>
        <p:spPr>
          <a:xfrm>
            <a:off x="1336432" y="1389186"/>
            <a:ext cx="8713176" cy="4753446"/>
          </a:xfrm>
        </p:spPr>
        <p:txBody>
          <a:bodyPr/>
          <a:lstStyle/>
          <a:p>
            <a:pPr marL="0" marR="0" indent="0">
              <a:lnSpc>
                <a:spcPct val="107000"/>
              </a:lnSpc>
              <a:spcBef>
                <a:spcPts val="0"/>
              </a:spcBef>
              <a:spcAft>
                <a:spcPts val="1000"/>
              </a:spcAft>
              <a:buNone/>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indent="0">
              <a:lnSpc>
                <a:spcPct val="107000"/>
              </a:lnSpc>
              <a:spcBef>
                <a:spcPts val="0"/>
              </a:spcBef>
              <a:spcAft>
                <a:spcPts val="1000"/>
              </a:spcAft>
              <a:buNone/>
            </a:pP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DELETE </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1000"/>
              </a:spcAft>
              <a:buNone/>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FROM bill</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1000"/>
              </a:spcAft>
              <a:buNone/>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WHERE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patient_id</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 1</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latin typeface="Times New Roman" panose="02020603050405020304" pitchFamily="18" charset="0"/>
                <a:ea typeface="Calibri" panose="020F0502020204030204" pitchFamily="34" charset="0"/>
                <a:cs typeface="Times New Roman" panose="02020603050405020304" pitchFamily="18" charset="0"/>
              </a:rPr>
              <a:t>Before delete:</a:t>
            </a:r>
          </a:p>
          <a:p>
            <a:pPr marL="0" indent="0">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t>          </a:t>
            </a:r>
          </a:p>
        </p:txBody>
      </p:sp>
      <p:sp>
        <p:nvSpPr>
          <p:cNvPr id="4" name="Rectangle 2">
            <a:extLst>
              <a:ext uri="{FF2B5EF4-FFF2-40B4-BE49-F238E27FC236}">
                <a16:creationId xmlns:a16="http://schemas.microsoft.com/office/drawing/2014/main" id="{B4367DE1-EA22-4F39-9279-56A32FAC8307}"/>
              </a:ext>
            </a:extLst>
          </p:cNvPr>
          <p:cNvSpPr>
            <a:spLocks noChangeArrowheads="1"/>
          </p:cNvSpPr>
          <p:nvPr/>
        </p:nvSpPr>
        <p:spPr bwMode="auto">
          <a:xfrm>
            <a:off x="677334" y="94517"/>
            <a:ext cx="1036646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FF3D52C4-736C-4055-8530-259772957C37}"/>
              </a:ext>
            </a:extLst>
          </p:cNvPr>
          <p:cNvGraphicFramePr>
            <a:graphicFrameLocks/>
          </p:cNvGraphicFramePr>
          <p:nvPr>
            <p:extLst>
              <p:ext uri="{D42A27DB-BD31-4B8C-83A1-F6EECF244321}">
                <p14:modId xmlns:p14="http://schemas.microsoft.com/office/powerpoint/2010/main" val="883465649"/>
              </p:ext>
            </p:extLst>
          </p:nvPr>
        </p:nvGraphicFramePr>
        <p:xfrm>
          <a:off x="2072927" y="3253155"/>
          <a:ext cx="6209427" cy="2215660"/>
        </p:xfrm>
        <a:graphic>
          <a:graphicData uri="http://schemas.openxmlformats.org/presentationml/2006/ole">
            <mc:AlternateContent xmlns:mc="http://schemas.openxmlformats.org/markup-compatibility/2006">
              <mc:Choice xmlns:v="urn:schemas-microsoft-com:vml" Requires="v">
                <p:oleObj spid="_x0000_s4099" name="Picture" r:id="rId3" imgW="8352244" imgH="1562235" progId="StaticDib">
                  <p:embed/>
                </p:oleObj>
              </mc:Choice>
              <mc:Fallback>
                <p:oleObj name="Picture" r:id="rId3" imgW="8352244" imgH="1562235" progId="StaticDib">
                  <p:embed/>
                  <p:pic>
                    <p:nvPicPr>
                      <p:cNvPr id="0" name="rectole000000002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2927" y="3253155"/>
                        <a:ext cx="6209427" cy="2215660"/>
                      </a:xfrm>
                      <a:prstGeom prst="rect">
                        <a:avLst/>
                      </a:prstGeom>
                      <a:solidFill>
                        <a:srgbClr val="FFFFFF"/>
                      </a:solidFill>
                      <a:ln>
                        <a:noFill/>
                      </a:ln>
                    </p:spPr>
                  </p:pic>
                </p:oleObj>
              </mc:Fallback>
            </mc:AlternateContent>
          </a:graphicData>
        </a:graphic>
      </p:graphicFrame>
    </p:spTree>
    <p:extLst>
      <p:ext uri="{BB962C8B-B14F-4D97-AF65-F5344CB8AC3E}">
        <p14:creationId xmlns:p14="http://schemas.microsoft.com/office/powerpoint/2010/main" val="3433355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7EAB552-CBE9-44F1-87D5-04CA9567D81F}"/>
              </a:ext>
            </a:extLst>
          </p:cNvPr>
          <p:cNvSpPr>
            <a:spLocks noGrp="1"/>
          </p:cNvSpPr>
          <p:nvPr>
            <p:ph idx="1"/>
          </p:nvPr>
        </p:nvSpPr>
        <p:spPr/>
        <p:txBody>
          <a:bodyPr/>
          <a:lstStyle/>
          <a:p>
            <a:pPr marL="0" indent="0">
              <a:buFont typeface="Wingdings 3" charset="2"/>
              <a:buNone/>
            </a:pPr>
            <a:r>
              <a:rPr lang="en-US" sz="1800" dirty="0">
                <a:latin typeface="Times New Roman" panose="02020603050405020304" pitchFamily="18" charset="0"/>
                <a:cs typeface="Times New Roman" panose="02020603050405020304" pitchFamily="18" charset="0"/>
              </a:rPr>
              <a:t>                         After delete :</a:t>
            </a:r>
          </a:p>
          <a:p>
            <a:pPr marL="0" indent="0">
              <a:buFont typeface="Wingdings 3" charset="2"/>
              <a:buNone/>
            </a:pPr>
            <a:r>
              <a:rPr lang="en-US" sz="1800" dirty="0">
                <a:latin typeface="Times New Roman" panose="02020603050405020304" pitchFamily="18" charset="0"/>
                <a:cs typeface="Times New Roman" panose="02020603050405020304" pitchFamily="18" charset="0"/>
              </a:rPr>
              <a:t>           </a:t>
            </a:r>
          </a:p>
          <a:p>
            <a:pPr marL="0" indent="0">
              <a:buNone/>
            </a:pPr>
            <a:endParaRPr lang="en-US" dirty="0"/>
          </a:p>
        </p:txBody>
      </p:sp>
      <p:sp>
        <p:nvSpPr>
          <p:cNvPr id="8" name="Rectangle 2">
            <a:extLst>
              <a:ext uri="{FF2B5EF4-FFF2-40B4-BE49-F238E27FC236}">
                <a16:creationId xmlns:a16="http://schemas.microsoft.com/office/drawing/2014/main" id="{29DC1426-5C05-4AF1-9033-48B9FCBD96A6}"/>
              </a:ext>
            </a:extLst>
          </p:cNvPr>
          <p:cNvSpPr>
            <a:spLocks noChangeArrowheads="1"/>
          </p:cNvSpPr>
          <p:nvPr/>
        </p:nvSpPr>
        <p:spPr bwMode="auto">
          <a:xfrm flipV="1">
            <a:off x="6737838" y="3961652"/>
            <a:ext cx="5040922" cy="4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E6121DDA-5BC4-46CF-8A64-0997812298C0}"/>
              </a:ext>
            </a:extLst>
          </p:cNvPr>
          <p:cNvGraphicFramePr>
            <a:graphicFrameLocks/>
          </p:cNvGraphicFramePr>
          <p:nvPr>
            <p:extLst>
              <p:ext uri="{D42A27DB-BD31-4B8C-83A1-F6EECF244321}">
                <p14:modId xmlns:p14="http://schemas.microsoft.com/office/powerpoint/2010/main" val="42723139"/>
              </p:ext>
            </p:extLst>
          </p:nvPr>
        </p:nvGraphicFramePr>
        <p:xfrm>
          <a:off x="1556239" y="2945423"/>
          <a:ext cx="6128238" cy="2584939"/>
        </p:xfrm>
        <a:graphic>
          <a:graphicData uri="http://schemas.openxmlformats.org/presentationml/2006/ole">
            <mc:AlternateContent xmlns:mc="http://schemas.openxmlformats.org/markup-compatibility/2006">
              <mc:Choice xmlns:v="urn:schemas-microsoft-com:vml" Requires="v">
                <p:oleObj spid="_x0000_s6147" name="Picture" r:id="rId3" imgW="8291279" imgH="1333616" progId="StaticDib">
                  <p:embed/>
                </p:oleObj>
              </mc:Choice>
              <mc:Fallback>
                <p:oleObj name="Picture" r:id="rId3" imgW="8291279" imgH="1333616" progId="StaticDib">
                  <p:embed/>
                  <p:pic>
                    <p:nvPicPr>
                      <p:cNvPr id="5" name="Object 4">
                        <a:extLst>
                          <a:ext uri="{FF2B5EF4-FFF2-40B4-BE49-F238E27FC236}">
                            <a16:creationId xmlns:a16="http://schemas.microsoft.com/office/drawing/2014/main" id="{80DC0621-C7E8-4323-8E55-207F36752AF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6239" y="2945423"/>
                        <a:ext cx="6128238" cy="2584939"/>
                      </a:xfrm>
                      <a:prstGeom prst="rect">
                        <a:avLst/>
                      </a:prstGeom>
                      <a:solidFill>
                        <a:srgbClr val="FFFFFF"/>
                      </a:solidFill>
                      <a:ln>
                        <a:noFill/>
                      </a:ln>
                    </p:spPr>
                  </p:pic>
                </p:oleObj>
              </mc:Fallback>
            </mc:AlternateContent>
          </a:graphicData>
        </a:graphic>
      </p:graphicFrame>
    </p:spTree>
    <p:extLst>
      <p:ext uri="{BB962C8B-B14F-4D97-AF65-F5344CB8AC3E}">
        <p14:creationId xmlns:p14="http://schemas.microsoft.com/office/powerpoint/2010/main" val="436673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C9BA6-57B7-4EC9-AF0B-C99745692407}"/>
              </a:ext>
            </a:extLst>
          </p:cNvPr>
          <p:cNvSpPr>
            <a:spLocks noGrp="1"/>
          </p:cNvSpPr>
          <p:nvPr>
            <p:ph type="title"/>
          </p:nvPr>
        </p:nvSpPr>
        <p:spPr/>
        <p:txBody>
          <a:bodyPr/>
          <a:lstStyle/>
          <a:p>
            <a:r>
              <a:rPr lang="en-US" dirty="0"/>
              <a:t>                   Conclusion </a:t>
            </a:r>
          </a:p>
        </p:txBody>
      </p:sp>
      <p:sp>
        <p:nvSpPr>
          <p:cNvPr id="3" name="Content Placeholder 2">
            <a:extLst>
              <a:ext uri="{FF2B5EF4-FFF2-40B4-BE49-F238E27FC236}">
                <a16:creationId xmlns:a16="http://schemas.microsoft.com/office/drawing/2014/main" id="{15D53A26-C696-41D0-904D-233D9F29230A}"/>
              </a:ext>
            </a:extLst>
          </p:cNvPr>
          <p:cNvSpPr>
            <a:spLocks noGrp="1"/>
          </p:cNvSpPr>
          <p:nvPr>
            <p:ph idx="1"/>
          </p:nvPr>
        </p:nvSpPr>
        <p:spPr>
          <a:xfrm>
            <a:off x="677334" y="1573823"/>
            <a:ext cx="8596668" cy="4467539"/>
          </a:xfrm>
        </p:spPr>
        <p:txBody>
          <a:bodyPr>
            <a:normAutofit/>
          </a:bodyPr>
          <a:lstStyle/>
          <a:p>
            <a:pPr marL="0" indent="0">
              <a:buNone/>
            </a:pPr>
            <a:r>
              <a:rPr lang="en-US" sz="1600" dirty="0">
                <a:effectLst/>
                <a:latin typeface="Times New Roman" panose="02020603050405020304" pitchFamily="18" charset="0"/>
                <a:ea typeface="Calibri" panose="020F0502020204030204" pitchFamily="34" charset="0"/>
              </a:rPr>
              <a:t>Considering all of the above, we can deduce that the hospital management system is an unavoidable element of the modern medical institution's lifecycle. It streamlines user interactions by automating a variety of daily tasks. Developing hospital system software is a fantastic way to establish a unique, efficient, and quick healthcare delivery model. The implementation of a hospital management system project aids in the storage of all types of records, the provision of coordination and user communication, the implementation of policies, the improvement of day-to-day operations, the organization of supply chains, the management of financial and human resources, and the marketing of hospital services. This advantageous option meets the needs of patients, employees, and hospital authorities while also simplifying interactions between them. It has become the standard method of hospital administration. </a:t>
            </a:r>
            <a:endParaRPr lang="en-US" sz="1600" dirty="0"/>
          </a:p>
        </p:txBody>
      </p:sp>
    </p:spTree>
    <p:extLst>
      <p:ext uri="{BB962C8B-B14F-4D97-AF65-F5344CB8AC3E}">
        <p14:creationId xmlns:p14="http://schemas.microsoft.com/office/powerpoint/2010/main" val="157157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9B50C-D5CC-4C2C-AB7C-7BE1A0139145}"/>
              </a:ext>
            </a:extLst>
          </p:cNvPr>
          <p:cNvSpPr>
            <a:spLocks noGrp="1"/>
          </p:cNvSpPr>
          <p:nvPr>
            <p:ph type="title"/>
          </p:nvPr>
        </p:nvSpPr>
        <p:spPr>
          <a:xfrm>
            <a:off x="1397976" y="1727688"/>
            <a:ext cx="7533125" cy="3402623"/>
          </a:xfrm>
        </p:spPr>
        <p:txBody>
          <a:bodyPr>
            <a:normAutofit/>
          </a:bodyPr>
          <a:lstStyle/>
          <a:p>
            <a:r>
              <a:rPr lang="en-US" sz="4000" b="1" dirty="0">
                <a:latin typeface="Times New Roman" panose="02020603050405020304" pitchFamily="18" charset="0"/>
                <a:cs typeface="Times New Roman" panose="02020603050405020304" pitchFamily="18" charset="0"/>
              </a:rPr>
              <a:t>                 </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               </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              </a:t>
            </a:r>
            <a:r>
              <a:rPr lang="en-US" sz="5400" b="1"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361331754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65</TotalTime>
  <Words>524</Words>
  <Application>Microsoft Office PowerPoint</Application>
  <PresentationFormat>Widescreen</PresentationFormat>
  <Paragraphs>50</Paragraphs>
  <Slides>13</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0" baseType="lpstr">
      <vt:lpstr>Arial</vt:lpstr>
      <vt:lpstr>Calibri</vt:lpstr>
      <vt:lpstr>Times New Roman</vt:lpstr>
      <vt:lpstr>Trebuchet MS</vt:lpstr>
      <vt:lpstr>Wingdings 3</vt:lpstr>
      <vt:lpstr>Facet</vt:lpstr>
      <vt:lpstr>Picture (Device Independent Bitmap)</vt:lpstr>
      <vt:lpstr>  WELCOME</vt:lpstr>
      <vt:lpstr>        Hospital Management System</vt:lpstr>
      <vt:lpstr>                      Description  </vt:lpstr>
      <vt:lpstr>                          Entity Sets : </vt:lpstr>
      <vt:lpstr>                    E-R Diagram</vt:lpstr>
      <vt:lpstr>               Relational Schema</vt:lpstr>
      <vt:lpstr>                       Join Query </vt:lpstr>
      <vt:lpstr>PowerPoint Presentation</vt:lpstr>
      <vt:lpstr>                   Update </vt:lpstr>
      <vt:lpstr>                             Delete</vt:lpstr>
      <vt:lpstr>PowerPoint Presentation</vt:lpstr>
      <vt:lpstr>                   Conclusion </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WELCOME</dc:title>
  <dc:creator>Maliha Mohasin</dc:creator>
  <cp:lastModifiedBy>Maliha Mohasin</cp:lastModifiedBy>
  <cp:revision>1</cp:revision>
  <dcterms:created xsi:type="dcterms:W3CDTF">2022-01-12T11:51:58Z</dcterms:created>
  <dcterms:modified xsi:type="dcterms:W3CDTF">2022-01-12T12:57:14Z</dcterms:modified>
</cp:coreProperties>
</file>